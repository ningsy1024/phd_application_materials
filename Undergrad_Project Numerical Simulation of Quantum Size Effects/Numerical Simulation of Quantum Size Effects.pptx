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4" r:id="rId4"/>
    <p:sldId id="259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宁 思源" initials="宁" lastIdx="1" clrIdx="0">
    <p:extLst>
      <p:ext uri="{19B8F6BF-5375-455C-9EA6-DF929625EA0E}">
        <p15:presenceInfo xmlns:p15="http://schemas.microsoft.com/office/powerpoint/2012/main" userId="328b3255d5ae674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1BDFC-D4F6-4456-85AA-C4F5605B91FF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25AED-D691-4F5B-ABDB-94F30B2FFE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824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Sichert</a:t>
            </a:r>
            <a:r>
              <a:rPr lang="en-US" altLang="zh-CN" dirty="0"/>
              <a:t>, J. A. et al. (2015) </a:t>
            </a:r>
            <a:r>
              <a:rPr lang="en-US" altLang="zh-CN" i="1" dirty="0"/>
              <a:t>Nano Letters</a:t>
            </a:r>
            <a:r>
              <a:rPr lang="en-US" altLang="zh-CN" dirty="0"/>
              <a:t>, 15(10), 6521–6527.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25AED-D691-4F5B-ABDB-94F30B2FFE8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844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4C482-621A-E908-1505-ACB632359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C972C9-99D3-D141-EB89-7D012BE98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34228-BC01-9D23-9F0E-EDB97C62A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8895C0-C923-A2B6-5BB6-81AFA137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434455-BB04-6F0A-596B-255B26B9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846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B6C41-D961-0410-BB6B-203535CE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D071B-0C2F-F37D-851C-11C1F8481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AB7209-90E4-8657-3736-2C39E21A0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FFCC8D-74C2-EF50-4A55-BF58A686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A6807F-8ADA-D84B-488F-1E3B247D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011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6A076-ECD3-CF04-7C9F-415EB961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92865D-6702-742D-248E-030D57AE3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7CE2C9-F206-E843-9A5D-664C72F6A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3A76FE-1ADD-11EA-00D1-87E8D80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75CA2-EB92-BB4C-55AC-D99808E5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38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722EF-5D2D-8F10-2B1D-A2A9F63FD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310D8F-D0AF-7415-F48A-42FA3BEFA0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84FB90-354B-3DE6-A16E-CAEDD960B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D5C29A-AAA8-D663-A9A1-FF6F4A26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CC167D-E7BF-471E-8FBF-CF6AC5E6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A16DB6-CCF1-7A0E-B4BA-86BC5735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099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3285F-4E6C-93AB-D891-45C16DA8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256F6-ED14-5238-8293-8207A6AAC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F5A649-B6F5-C26C-3154-7EE22E860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6C8247-A3C8-BF0A-BD56-0EF29E8AD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69DE5B-455D-72D2-B7B0-5FECA8A88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02BDC9-1C4A-5C54-9A23-020915B50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3B2994-40D9-4A2E-CF4E-C1E336E56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914408-A6F4-6034-0C52-5F013F49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771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AA938-A18B-06AD-86C7-98499D3C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EFBEE2-D222-9A2C-8D5D-EA380776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51E4F6-D4CB-32DE-0C00-3FE90AB9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38465B-D888-E02F-3CFC-0A0951B6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70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DBA4E8-7010-035D-C14B-BC3D9393E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16EE67-1635-1CDD-2DF8-F220EF76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20121-147E-B0D9-53DB-0B70C060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15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4F819-0EA8-7AA1-9215-1FFF30057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A0AFF1-6CDC-593F-F41E-75D8EEA34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76A9CE-4451-99B3-3745-DEFF95EA9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5432AA-ED86-C94A-0DB9-6F249AA6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3AB122-31AB-AA74-8224-E3F161245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196C8A-2565-6BAB-1F46-964188A3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269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EDA12-9A76-FB93-63E8-891D9D4E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6B5AC54-3464-1E8E-1A81-A5D1DDFE0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E24C9A-F493-4613-7558-E5BDF46FB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55D98B-3708-1BC7-4675-AAA3BB93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966039-E304-543C-A06F-241A09CE0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8BCBAB-2987-7CC3-1E17-DC9F9776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436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A1628-73F9-DA42-20C4-EE23285F0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FE0F29-1932-3C59-41A9-510030896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2D7904-488D-71C1-4EE0-34E5590D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5AB09E-5E9B-7739-5859-304054CA0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510CB2-EC75-A4E1-8BAE-8B3F02C5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82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1522BE-83B1-537E-9878-36328AF6D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3BB4F3-6873-0D4C-154B-F4FD0BD99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DC2521-A367-AA3B-B8F4-F707329C4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499B45-8E1F-BB0E-00CE-2B80D84E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7EEBED-CC66-062B-D93E-2E6A98C5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568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57C78A-D443-75D4-C82B-A3C6F49F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49163F-C22E-F70F-0016-F2E77D5C0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DA6D38-82A3-6ADE-99C7-B727B2CA1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A0C13-769F-4C02-9F41-9180BDCC0B2D}" type="datetimeFigureOut">
              <a:rPr lang="zh-CN" altLang="en-US" smtClean="0"/>
              <a:t>2024/10/13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E158E-2EB8-FAA7-BBC9-E3BA8E987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CB5B7-9D7D-0F46-523D-9320C4AC6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A2B17-AE6F-45D3-89C4-95449ABF4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78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C5D48ADF-B9BD-62B5-1C4D-961B473B3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040" y="1144934"/>
            <a:ext cx="2655920" cy="1185472"/>
          </a:xfrm>
          <a:prstGeom prst="rect">
            <a:avLst/>
          </a:prstGeom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D4BE16C0-BF8E-B8DD-54D3-419213384A6D}"/>
              </a:ext>
            </a:extLst>
          </p:cNvPr>
          <p:cNvSpPr txBox="1"/>
          <p:nvPr/>
        </p:nvSpPr>
        <p:spPr>
          <a:xfrm>
            <a:off x="1414495" y="2646302"/>
            <a:ext cx="9718157" cy="54066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tIns="12700" rIns="0" bIns="12700" rtlCol="0" anchor="t">
            <a:spAutoFit/>
          </a:bodyPr>
          <a:lstStyle/>
          <a:p>
            <a:pPr algn="ctr">
              <a:lnSpc>
                <a:spcPct val="113400"/>
              </a:lnSpc>
            </a:pPr>
            <a:r>
              <a:rPr lang="en-US" altLang="zh-CN" sz="3200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Numerical Simulation of Quantum Size Effects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35D9C5A3-DF4D-88BC-AD3F-0755ADA6D333}"/>
              </a:ext>
            </a:extLst>
          </p:cNvPr>
          <p:cNvSpPr/>
          <p:nvPr/>
        </p:nvSpPr>
        <p:spPr>
          <a:xfrm>
            <a:off x="2116597" y="3336279"/>
            <a:ext cx="8313955" cy="15661"/>
          </a:xfrm>
          <a:custGeom>
            <a:avLst/>
            <a:gdLst/>
            <a:ahLst/>
            <a:cxnLst/>
            <a:rect l="l" t="t" r="r" b="b"/>
            <a:pathLst>
              <a:path w="5168900" h="12700">
                <a:moveTo>
                  <a:pt x="0" y="0"/>
                </a:moveTo>
                <a:lnTo>
                  <a:pt x="5168900" y="0"/>
                </a:lnTo>
                <a:lnTo>
                  <a:pt x="5168900" y="12700"/>
                </a:lnTo>
                <a:lnTo>
                  <a:pt x="0" y="12700"/>
                </a:lnTo>
                <a:close/>
              </a:path>
            </a:pathLst>
          </a:custGeom>
          <a:solidFill>
            <a:srgbClr val="3B3838"/>
          </a:solidFill>
        </p:spPr>
        <p:txBody>
          <a:bodyPr lIns="127000" rIns="127000" rtlCol="0" anchor="ctr"/>
          <a:lstStyle/>
          <a:p>
            <a:pPr algn="l"/>
            <a:endParaRPr lang="en-US" sz="11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DD088B-207F-C3F1-3BDA-8F062AC8FE8E}"/>
              </a:ext>
            </a:extLst>
          </p:cNvPr>
          <p:cNvSpPr txBox="1"/>
          <p:nvPr/>
        </p:nvSpPr>
        <p:spPr>
          <a:xfrm>
            <a:off x="5404185" y="3671777"/>
            <a:ext cx="1965603" cy="1135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Ning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Siyuan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10/11/2022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2454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CAF2E7-F1BF-9F01-7BEF-70CA4E435AD3}"/>
              </a:ext>
            </a:extLst>
          </p:cNvPr>
          <p:cNvSpPr txBox="1"/>
          <p:nvPr/>
        </p:nvSpPr>
        <p:spPr>
          <a:xfrm>
            <a:off x="375780" y="363255"/>
            <a:ext cx="3382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Methods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34E5427-9D29-8747-56EE-01C177906940}"/>
              </a:ext>
            </a:extLst>
          </p:cNvPr>
          <p:cNvCxnSpPr/>
          <p:nvPr/>
        </p:nvCxnSpPr>
        <p:spPr>
          <a:xfrm>
            <a:off x="375780" y="992946"/>
            <a:ext cx="425258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5284B812-7B07-8F8F-E486-D0ABAB3EF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62" y="2805755"/>
            <a:ext cx="3471776" cy="9092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92BBD9E-29A0-EDD2-1388-2CFEE58A5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80" y="4018138"/>
            <a:ext cx="4369235" cy="9092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A6C67C-404F-31E6-C00B-9305CA8AB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902" y="1451219"/>
            <a:ext cx="6444966" cy="20955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5EF10C-5190-8A37-CB4B-F1ADEAD78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950" y="4094701"/>
            <a:ext cx="6650870" cy="20955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5327354-8FF4-BB19-E950-098284CD0B39}"/>
              </a:ext>
            </a:extLst>
          </p:cNvPr>
          <p:cNvSpPr txBox="1"/>
          <p:nvPr/>
        </p:nvSpPr>
        <p:spPr>
          <a:xfrm>
            <a:off x="375780" y="1359887"/>
            <a:ext cx="4676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Finite Difference Method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13703CB-B4DB-A81C-AAC2-72B544A0CE48}"/>
              </a:ext>
            </a:extLst>
          </p:cNvPr>
          <p:cNvCxnSpPr/>
          <p:nvPr/>
        </p:nvCxnSpPr>
        <p:spPr>
          <a:xfrm flipV="1">
            <a:off x="4074945" y="2650161"/>
            <a:ext cx="1112950" cy="67194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A1064D3-5342-6731-EEA5-10D4711406D7}"/>
              </a:ext>
            </a:extLst>
          </p:cNvPr>
          <p:cNvCxnSpPr>
            <a:endCxn id="9" idx="1"/>
          </p:cNvCxnSpPr>
          <p:nvPr/>
        </p:nvCxnSpPr>
        <p:spPr>
          <a:xfrm>
            <a:off x="4267200" y="4738255"/>
            <a:ext cx="935182" cy="35329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304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CAF2E7-F1BF-9F01-7BEF-70CA4E435AD3}"/>
              </a:ext>
            </a:extLst>
          </p:cNvPr>
          <p:cNvSpPr txBox="1"/>
          <p:nvPr/>
        </p:nvSpPr>
        <p:spPr>
          <a:xfrm>
            <a:off x="375780" y="363255"/>
            <a:ext cx="3382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Methods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34E5427-9D29-8747-56EE-01C177906940}"/>
              </a:ext>
            </a:extLst>
          </p:cNvPr>
          <p:cNvCxnSpPr/>
          <p:nvPr/>
        </p:nvCxnSpPr>
        <p:spPr>
          <a:xfrm>
            <a:off x="375780" y="992946"/>
            <a:ext cx="425258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69A4D90-7874-78D6-CBE1-E051E04D86EA}"/>
              </a:ext>
            </a:extLst>
          </p:cNvPr>
          <p:cNvSpPr txBox="1"/>
          <p:nvPr/>
        </p:nvSpPr>
        <p:spPr>
          <a:xfrm>
            <a:off x="283535" y="1323397"/>
            <a:ext cx="5694316" cy="961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Differential Equation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Matrix Equation 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Express the Hamiltonian as a matrix operator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6EE3586-4569-DEC6-9107-7F13ACE9F54F}"/>
                  </a:ext>
                </a:extLst>
              </p:cNvPr>
              <p:cNvSpPr txBox="1"/>
              <p:nvPr/>
            </p:nvSpPr>
            <p:spPr>
              <a:xfrm>
                <a:off x="-418335" y="2760036"/>
                <a:ext cx="308909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2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ˆ"/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𝜓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⟩=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𝜓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⟩</m:t>
                      </m:r>
                    </m:oMath>
                  </m:oMathPara>
                </a14:m>
                <a:endParaRPr lang="zh-CN" altLang="zh-CN" sz="1800" dirty="0">
                  <a:effectLst/>
                  <a:latin typeface="Georgia" panose="02040502050405020303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6EE3586-4569-DEC6-9107-7F13ACE9F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8335" y="2760036"/>
                <a:ext cx="3089097" cy="400110"/>
              </a:xfrm>
              <a:prstGeom prst="rect">
                <a:avLst/>
              </a:prstGeom>
              <a:blipFill>
                <a:blip r:embed="rId2"/>
                <a:stretch>
                  <a:fillRect t="-4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406C713-F6E1-87A3-E7CF-4848E073EA4D}"/>
                  </a:ext>
                </a:extLst>
              </p:cNvPr>
              <p:cNvSpPr txBox="1"/>
              <p:nvPr/>
            </p:nvSpPr>
            <p:spPr>
              <a:xfrm>
                <a:off x="602389" y="2749793"/>
                <a:ext cx="62221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2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acc>
                        <m:accPr>
                          <m:chr m:val="ˆ"/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</m:acc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ˆ"/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</m:acc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]|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𝜓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⟩=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𝜓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⟩</m:t>
                      </m:r>
                    </m:oMath>
                  </m:oMathPara>
                </a14:m>
                <a:endParaRPr lang="zh-CN" altLang="zh-CN" sz="1800" dirty="0">
                  <a:effectLst/>
                  <a:latin typeface="Georgia" panose="02040502050405020303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406C713-F6E1-87A3-E7CF-4848E073E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89" y="2749793"/>
                <a:ext cx="6222159" cy="400110"/>
              </a:xfrm>
              <a:prstGeom prst="rect">
                <a:avLst/>
              </a:prstGeom>
              <a:blipFill>
                <a:blip r:embed="rId3"/>
                <a:stretch>
                  <a:fillRect t="-48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BD5B9ED2-2606-3B7B-8D65-98F9A4B58E2A}"/>
                  </a:ext>
                </a:extLst>
              </p:cNvPr>
              <p:cNvSpPr txBox="1"/>
              <p:nvPr/>
            </p:nvSpPr>
            <p:spPr>
              <a:xfrm>
                <a:off x="3339825" y="2478837"/>
                <a:ext cx="6843822" cy="717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|"/>
                          <m:endChr m:val="⟩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BD5B9ED2-2606-3B7B-8D65-98F9A4B58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25" y="2478837"/>
                <a:ext cx="6843822" cy="717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B14F76B-9EBA-488B-8190-F7055A1B907E}"/>
                  </a:ext>
                </a:extLst>
              </p:cNvPr>
              <p:cNvSpPr txBox="1"/>
              <p:nvPr/>
            </p:nvSpPr>
            <p:spPr>
              <a:xfrm>
                <a:off x="804530" y="4491710"/>
                <a:ext cx="684382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2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ˆ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</m:acc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𝓁</m:t>
                              </m:r>
                            </m:e>
                            <m:sup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/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1800" dirty="0">
                  <a:effectLst/>
                  <a:latin typeface="Georgia" panose="02040502050405020303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B14F76B-9EBA-488B-8190-F7055A1B9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30" y="4491710"/>
                <a:ext cx="6843822" cy="400110"/>
              </a:xfrm>
              <a:prstGeom prst="rect">
                <a:avLst/>
              </a:prstGeom>
              <a:blipFill>
                <a:blip r:embed="rId5"/>
                <a:stretch>
                  <a:fillRect t="-253846" b="-5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C41563FF-E33C-0DB7-20F8-41F356356767}"/>
                  </a:ext>
                </a:extLst>
              </p:cNvPr>
              <p:cNvSpPr txBox="1"/>
              <p:nvPr/>
            </p:nvSpPr>
            <p:spPr>
              <a:xfrm>
                <a:off x="5439187" y="4537956"/>
                <a:ext cx="684382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2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acc>
                        <m:accPr>
                          <m:chr m:val="ˆ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lang="zh-CN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lang="zh-CN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/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/>
                              <m:e/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lang="zh-CN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1800" dirty="0">
                  <a:effectLst/>
                  <a:latin typeface="Georgia" panose="02040502050405020303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C41563FF-E33C-0DB7-20F8-41F356356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187" y="4537956"/>
                <a:ext cx="6843822" cy="400110"/>
              </a:xfrm>
              <a:prstGeom prst="rect">
                <a:avLst/>
              </a:prstGeom>
              <a:blipFill>
                <a:blip r:embed="rId6"/>
                <a:stretch>
                  <a:fillRect t="-260606" b="-5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0F6752E0-DB83-C377-0ECE-9565374D88C4}"/>
                  </a:ext>
                </a:extLst>
              </p:cNvPr>
              <p:cNvSpPr txBox="1"/>
              <p:nvPr/>
            </p:nvSpPr>
            <p:spPr>
              <a:xfrm>
                <a:off x="-545926" y="3708098"/>
                <a:ext cx="3141921" cy="1183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0F6752E0-DB83-C377-0ECE-9565374D8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5926" y="3708098"/>
                <a:ext cx="3141921" cy="11837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867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CAF2E7-F1BF-9F01-7BEF-70CA4E435AD3}"/>
              </a:ext>
            </a:extLst>
          </p:cNvPr>
          <p:cNvSpPr txBox="1"/>
          <p:nvPr/>
        </p:nvSpPr>
        <p:spPr>
          <a:xfrm>
            <a:off x="375780" y="363255"/>
            <a:ext cx="3382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Results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34E5427-9D29-8747-56EE-01C177906940}"/>
              </a:ext>
            </a:extLst>
          </p:cNvPr>
          <p:cNvCxnSpPr/>
          <p:nvPr/>
        </p:nvCxnSpPr>
        <p:spPr>
          <a:xfrm>
            <a:off x="375780" y="992946"/>
            <a:ext cx="425258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15E9EEBF-37E7-3763-FE3B-4353201E1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815" y="768965"/>
            <a:ext cx="3892659" cy="173355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7D28F23-4E68-56F6-04D4-F5CABCEFE53F}"/>
              </a:ext>
            </a:extLst>
          </p:cNvPr>
          <p:cNvSpPr txBox="1"/>
          <p:nvPr/>
        </p:nvSpPr>
        <p:spPr>
          <a:xfrm>
            <a:off x="616526" y="1357486"/>
            <a:ext cx="8038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GaAs/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Ga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1-x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core/shell quantum dots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E63C25-A762-BAB5-9F97-7C82FA42F8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7"/>
          <a:stretch/>
        </p:blipFill>
        <p:spPr>
          <a:xfrm>
            <a:off x="6380608" y="2172958"/>
            <a:ext cx="3384939" cy="39713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134F10D-64A7-F233-C045-8359A5E3D7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36"/>
          <a:stretch/>
        </p:blipFill>
        <p:spPr>
          <a:xfrm>
            <a:off x="1603792" y="2306800"/>
            <a:ext cx="3565604" cy="3876049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8454236-4577-EBB8-04FE-F5E2D02EB7D8}"/>
              </a:ext>
            </a:extLst>
          </p:cNvPr>
          <p:cNvCxnSpPr>
            <a:cxnSpLocks/>
          </p:cNvCxnSpPr>
          <p:nvPr/>
        </p:nvCxnSpPr>
        <p:spPr>
          <a:xfrm flipH="1">
            <a:off x="2964873" y="4371109"/>
            <a:ext cx="228600" cy="367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09271EF-9F84-4932-7BBA-6AA8EF3386CA}"/>
              </a:ext>
            </a:extLst>
          </p:cNvPr>
          <p:cNvCxnSpPr>
            <a:cxnSpLocks/>
          </p:cNvCxnSpPr>
          <p:nvPr/>
        </p:nvCxnSpPr>
        <p:spPr>
          <a:xfrm flipH="1">
            <a:off x="2502073" y="5015346"/>
            <a:ext cx="228600" cy="36714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D5DE1D3-0F51-83B6-9590-B34A7D3F3C6E}"/>
              </a:ext>
            </a:extLst>
          </p:cNvPr>
          <p:cNvCxnSpPr>
            <a:cxnSpLocks/>
          </p:cNvCxnSpPr>
          <p:nvPr/>
        </p:nvCxnSpPr>
        <p:spPr>
          <a:xfrm flipH="1">
            <a:off x="8010123" y="4946073"/>
            <a:ext cx="351095" cy="53340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AAF7EEF-9137-C082-3D54-196062A65CB9}"/>
              </a:ext>
            </a:extLst>
          </p:cNvPr>
          <p:cNvSpPr txBox="1"/>
          <p:nvPr/>
        </p:nvSpPr>
        <p:spPr>
          <a:xfrm>
            <a:off x="3480444" y="6292010"/>
            <a:ext cx="5678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Rahimi, F. </a:t>
            </a:r>
            <a:r>
              <a:rPr lang="en-US" altLang="zh-CN" b="0" i="1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 al.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0" i="1" dirty="0" err="1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Opt</a:t>
            </a:r>
            <a:r>
              <a:rPr lang="en-US" altLang="zh-CN" b="0" i="1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Quant Electron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b="1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53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47 (2021).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77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CAF2E7-F1BF-9F01-7BEF-70CA4E435AD3}"/>
              </a:ext>
            </a:extLst>
          </p:cNvPr>
          <p:cNvSpPr txBox="1"/>
          <p:nvPr/>
        </p:nvSpPr>
        <p:spPr>
          <a:xfrm>
            <a:off x="375780" y="363255"/>
            <a:ext cx="3382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Results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34E5427-9D29-8747-56EE-01C177906940}"/>
              </a:ext>
            </a:extLst>
          </p:cNvPr>
          <p:cNvCxnSpPr/>
          <p:nvPr/>
        </p:nvCxnSpPr>
        <p:spPr>
          <a:xfrm>
            <a:off x="375780" y="992946"/>
            <a:ext cx="425258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CD6AB1C1-F796-AD78-44FE-02D2F5723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490" y="1158658"/>
            <a:ext cx="8586592" cy="552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16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CAF2E7-F1BF-9F01-7BEF-70CA4E435AD3}"/>
              </a:ext>
            </a:extLst>
          </p:cNvPr>
          <p:cNvSpPr txBox="1"/>
          <p:nvPr/>
        </p:nvSpPr>
        <p:spPr>
          <a:xfrm>
            <a:off x="375780" y="363255"/>
            <a:ext cx="3382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Results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34E5427-9D29-8747-56EE-01C177906940}"/>
              </a:ext>
            </a:extLst>
          </p:cNvPr>
          <p:cNvCxnSpPr/>
          <p:nvPr/>
        </p:nvCxnSpPr>
        <p:spPr>
          <a:xfrm>
            <a:off x="375780" y="992946"/>
            <a:ext cx="425258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7D28F23-4E68-56F6-04D4-F5CABCEFE53F}"/>
              </a:ext>
            </a:extLst>
          </p:cNvPr>
          <p:cNvSpPr txBox="1"/>
          <p:nvPr/>
        </p:nvSpPr>
        <p:spPr>
          <a:xfrm>
            <a:off x="616526" y="1357486"/>
            <a:ext cx="9477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Methylammonium lead bromide 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MAPbBr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Nanoplatelets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87B70EA-3F9E-0BF0-E75B-8F989A62B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195" y="2335665"/>
            <a:ext cx="7201524" cy="371888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99B48F4-5B79-406F-6EC9-BCECB9630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272" y="6054547"/>
            <a:ext cx="3253637" cy="76847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29BB6BE-29F8-90E5-37C4-7BD5F78CC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946" y="2109091"/>
            <a:ext cx="2937785" cy="4172030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C2C10C2-CB40-53D6-AE63-FC89A5A3EF1C}"/>
              </a:ext>
            </a:extLst>
          </p:cNvPr>
          <p:cNvCxnSpPr>
            <a:cxnSpLocks/>
          </p:cNvCxnSpPr>
          <p:nvPr/>
        </p:nvCxnSpPr>
        <p:spPr>
          <a:xfrm>
            <a:off x="4206240" y="3365744"/>
            <a:ext cx="143793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25EA1FD-625C-4740-4C3B-0238A1FB90CE}"/>
              </a:ext>
            </a:extLst>
          </p:cNvPr>
          <p:cNvCxnSpPr>
            <a:cxnSpLocks/>
          </p:cNvCxnSpPr>
          <p:nvPr/>
        </p:nvCxnSpPr>
        <p:spPr>
          <a:xfrm>
            <a:off x="4206240" y="4645996"/>
            <a:ext cx="143793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D759BDF-D360-B76E-D9B9-233AFDAFE07D}"/>
              </a:ext>
            </a:extLst>
          </p:cNvPr>
          <p:cNvCxnSpPr>
            <a:cxnSpLocks/>
          </p:cNvCxnSpPr>
          <p:nvPr/>
        </p:nvCxnSpPr>
        <p:spPr>
          <a:xfrm flipV="1">
            <a:off x="4293583" y="3365744"/>
            <a:ext cx="0" cy="4222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CF137CF-2E2D-3FDF-5502-E1A7BFCB0CF2}"/>
              </a:ext>
            </a:extLst>
          </p:cNvPr>
          <p:cNvCxnSpPr>
            <a:cxnSpLocks/>
          </p:cNvCxnSpPr>
          <p:nvPr/>
        </p:nvCxnSpPr>
        <p:spPr>
          <a:xfrm>
            <a:off x="4293583" y="4180445"/>
            <a:ext cx="0" cy="46555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FBA573D0-8C94-804F-4F6C-A5AFC9475863}"/>
              </a:ext>
            </a:extLst>
          </p:cNvPr>
          <p:cNvSpPr txBox="1"/>
          <p:nvPr/>
        </p:nvSpPr>
        <p:spPr>
          <a:xfrm>
            <a:off x="4078070" y="3775498"/>
            <a:ext cx="482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600" baseline="-15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endParaRPr lang="zh-CN" altLang="en-US" sz="1600" baseline="-15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40640D5-24A2-7769-6296-6ED2C9CCBB15}"/>
              </a:ext>
            </a:extLst>
          </p:cNvPr>
          <p:cNvSpPr txBox="1"/>
          <p:nvPr/>
        </p:nvSpPr>
        <p:spPr>
          <a:xfrm>
            <a:off x="4724400" y="2911626"/>
            <a:ext cx="74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600" baseline="-25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94A334-1B55-FF6A-4733-6DADA32AD737}"/>
              </a:ext>
            </a:extLst>
          </p:cNvPr>
          <p:cNvSpPr txBox="1"/>
          <p:nvPr/>
        </p:nvSpPr>
        <p:spPr>
          <a:xfrm>
            <a:off x="4724400" y="4700847"/>
            <a:ext cx="74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600" baseline="-250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9909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CAF2E7-F1BF-9F01-7BEF-70CA4E435AD3}"/>
              </a:ext>
            </a:extLst>
          </p:cNvPr>
          <p:cNvSpPr txBox="1"/>
          <p:nvPr/>
        </p:nvSpPr>
        <p:spPr>
          <a:xfrm>
            <a:off x="375780" y="363255"/>
            <a:ext cx="3382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Results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34E5427-9D29-8747-56EE-01C177906940}"/>
              </a:ext>
            </a:extLst>
          </p:cNvPr>
          <p:cNvCxnSpPr/>
          <p:nvPr/>
        </p:nvCxnSpPr>
        <p:spPr>
          <a:xfrm>
            <a:off x="375780" y="992946"/>
            <a:ext cx="425258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94A6E49D-5A9E-292E-012A-50BD83D30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72" y="1246291"/>
            <a:ext cx="9538570" cy="544137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1C1AE7D-896D-8802-5398-328447359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405" y="1377863"/>
            <a:ext cx="4981271" cy="356332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6CD8651-CC16-7543-F709-C6BBA675E8DA}"/>
              </a:ext>
            </a:extLst>
          </p:cNvPr>
          <p:cNvSpPr txBox="1"/>
          <p:nvPr/>
        </p:nvSpPr>
        <p:spPr>
          <a:xfrm>
            <a:off x="5089451" y="4891095"/>
            <a:ext cx="585282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Sichert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J. A. et al. (2015) 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Nano Letters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15(10), 6521–6527.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2079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5630</TotalTime>
  <Words>148</Words>
  <Application>Microsoft Office PowerPoint</Application>
  <PresentationFormat>宽屏</PresentationFormat>
  <Paragraphs>26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Cambria Math</vt:lpstr>
      <vt:lpstr>Georgia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宁 思源</dc:creator>
  <cp:lastModifiedBy>Sy Ning</cp:lastModifiedBy>
  <cp:revision>17</cp:revision>
  <dcterms:created xsi:type="dcterms:W3CDTF">2022-05-17T02:07:34Z</dcterms:created>
  <dcterms:modified xsi:type="dcterms:W3CDTF">2024-10-13T09:49:31Z</dcterms:modified>
</cp:coreProperties>
</file>